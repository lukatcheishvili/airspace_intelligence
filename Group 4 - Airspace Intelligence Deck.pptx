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6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B6"/>
    <a:srgbClr val="CAF0F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1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304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CAF0F8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CAF0F8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CAF0F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CAF0F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CAF0F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CAF0F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CAF0F8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CAF0F8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CAF0F8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CAF0F8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CAF0F8"/>
          </a:solidFill>
        </a:defRPr>
      </a:defPPr>
      <a:lvl1pPr marL="0" algn="l" defTabSz="914400" rtl="0" eaLnBrk="1" latinLnBrk="0" hangingPunct="1">
        <a:defRPr sz="1800" kern="1200">
          <a:solidFill>
            <a:srgbClr val="CAF0F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CAF0F8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CAF0F8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CAF0F8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CAF0F8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CAF0F8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CAF0F8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CAF0F8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CAF0F8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rgbClr val="0077B6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AIRSPACE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3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5200" dirty="0">
              <a:solidFill>
                <a:srgbClr val="0077B6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23317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0CAF9"/>
                </a:solidFill>
              </a:rPr>
              <a:t>Real-Time Aircraft Monitoring over the Iberian Peninsula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2880360"/>
            <a:ext cx="365760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3017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</a:rPr>
              <a:t>Modern Data Architectures for Big Data II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IE University — School of Science &amp; Technology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Group 4  ·  March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3886200"/>
            <a:ext cx="530352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D00"/>
                </a:solidFill>
              </a:rPr>
              <a:t>Group 4: </a:t>
            </a:r>
            <a:r>
              <a:rPr lang="en-US" sz="1000" dirty="0">
                <a:solidFill>
                  <a:srgbClr val="90CAF9"/>
                </a:solidFill>
              </a:rPr>
              <a:t>Rincon Juan José  ·  Gelin Romain  ·  Gaitan Diego  ·  Tcheishvili Luka  ·  Tambey Cécile</a:t>
            </a:r>
            <a:endParaRPr lang="en-US" sz="1000" dirty="0"/>
          </a:p>
        </p:txBody>
      </p:sp>
      <p:pic>
        <p:nvPicPr>
          <p:cNvPr id="10" name="Image 0" descr="/home/claude/img_nifi_fl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182880"/>
            <a:ext cx="3200400" cy="46634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60720" y="182880"/>
            <a:ext cx="3200400" cy="466344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D1B2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9"/>
          <p:cNvSpPr/>
          <p:nvPr/>
        </p:nvSpPr>
        <p:spPr>
          <a:xfrm rot="16200000">
            <a:off x="873252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6D00"/>
                </a:solidFill>
              </a:rPr>
              <a:t>PIPELINE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30200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0292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Project Challenge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916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Why Iberian airspace data matters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143000"/>
            <a:ext cx="50292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114300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12344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Pipeline 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6916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NiFi → MinIO → Spark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50292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33172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4231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UC1 · Density Monitoring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8803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Spark Structured Streaming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331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2331720"/>
            <a:ext cx="50292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233172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24231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UC2 · Country &amp; Airline Traffic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8803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Spark SQL Analysis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520440"/>
            <a:ext cx="50292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52044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36118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UC3 · Congestion Detection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0690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Spark ML KMeans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5204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50292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352044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94960" y="36118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Insights &amp; Conclusions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40690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Key findings &amp; future work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CAF9"/>
                </a:solidFill>
              </a:rPr>
              <a:t>AIRSPACE INTELLIGENCE  |  Group 4  |  IE University  |  MDA for Big Data II  —  2026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858000" y="49011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6D00"/>
                </a:solidFill>
              </a:rPr>
              <a:t>AGENDA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2377440" cy="25603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01  THE CHALLENGE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Monitor Iberian Airspace?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1480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D00"/>
                </a:solidFill>
              </a:rPr>
              <a:t>Data Volume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</a:rPr>
              <a:t>Hundreds of aircraft generating telemetry every 10 seconds — too fast for manual analysis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411480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1508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D00"/>
                </a:solidFill>
              </a:rPr>
              <a:t>Geographic Complexity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0574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</a:rPr>
              <a:t>Iberian Peninsula sits at the crossroads of European, transatlantic and African air corridors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11480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3063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D00"/>
                </a:solidFill>
              </a:rPr>
              <a:t>Real-Time Need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</a:rPr>
              <a:t>Air Traffic Control requires live density and congestion insights, not historical reports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926080"/>
            <a:ext cx="411480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86400" y="3063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D00"/>
                </a:solidFill>
              </a:rPr>
              <a:t>Hidden Patterns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611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</a:rPr>
              <a:t>Structural congestion hotspots invisible without large-scale ML clustering analysis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CAF9"/>
                </a:solidFill>
              </a:rPr>
              <a:t>AIRSPACE INTELLIGENCE  |  Group 4  |  IE University  |  MDA for Big Data II  —  2026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858000" y="49011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6D00"/>
                </a:solidFill>
              </a:rPr>
              <a:t>CHALLENGE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2377440" cy="25603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02 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End-to-End Big Data Pipeline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1554480" cy="13716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1188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OpenSky API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17373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Live telemetry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every 10 sec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55648" y="1783080"/>
            <a:ext cx="164592" cy="5486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55648" y="1700784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47672" y="1143000"/>
            <a:ext cx="1554480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47672" y="1188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Apache NiFi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47672" y="17373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4-processor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ingestion flow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20440" y="1783080"/>
            <a:ext cx="164592" cy="5486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20440" y="1700784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12464" y="1143000"/>
            <a:ext cx="1554480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12464" y="1188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MinIO Bronze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12464" y="17373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67 JSON files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3.1 MiB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85232" y="1783080"/>
            <a:ext cx="164592" cy="5486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85232" y="1700784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77256" y="1143000"/>
            <a:ext cx="1554480" cy="13716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77256" y="1188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Apache Spark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77256" y="17373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Streaming · SQL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ML KMeans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50024" y="1783080"/>
            <a:ext cx="164592" cy="5486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050024" y="1700784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42048" y="1143000"/>
            <a:ext cx="1554480" cy="13716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42048" y="1188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Visualisations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42048" y="17373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Seaborn · Folium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Dark Theme</a:t>
            </a:r>
            <a:endParaRPr lang="en-US" sz="900" dirty="0"/>
          </a:p>
        </p:txBody>
      </p:sp>
      <p:pic>
        <p:nvPicPr>
          <p:cNvPr id="29" name="Image 0" descr="/home/claude/img_nifi_fl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2697480"/>
            <a:ext cx="2011680" cy="1920240"/>
          </a:xfrm>
          <a:prstGeom prst="rect">
            <a:avLst/>
          </a:prstGeom>
        </p:spPr>
      </p:pic>
      <p:pic>
        <p:nvPicPr>
          <p:cNvPr id="30" name="Image 1" descr="/home/claude/img_minio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68880" y="2697480"/>
            <a:ext cx="6400800" cy="192024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274320" y="464515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NiFi — 4 processors running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2468880" y="464515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MinIO — airspace-intelligence-bronze bucket · PRIVATE · 67 objects · 3.1 MiB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CAF9"/>
                </a:solidFill>
              </a:rPr>
              <a:t>AIRSPACE INTELLIGENCE  |  Group 4  |  IE University  |  MDA for Big Data II  —  2026</a:t>
            </a:r>
            <a:endParaRPr lang="en-US" sz="700" dirty="0"/>
          </a:p>
        </p:txBody>
      </p:sp>
      <p:sp>
        <p:nvSpPr>
          <p:cNvPr id="35" name="Text 31"/>
          <p:cNvSpPr/>
          <p:nvPr/>
        </p:nvSpPr>
        <p:spPr>
          <a:xfrm>
            <a:off x="6858000" y="49011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6D00"/>
                </a:solidFill>
              </a:rPr>
              <a:t>ARCHITECTURE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UC1  AIRSPACE DENSITY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212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Spark Structured Streaming — Real-Time Density Monitoring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6596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16128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D00"/>
                </a:solidFill>
              </a:rPr>
              <a:t>23,579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" y="16642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Aircraft Records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1115568"/>
            <a:ext cx="196596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23160" y="116128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D00"/>
                </a:solidFill>
              </a:rPr>
              <a:t>352.8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23160" y="16642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Avg per Snapshot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115568"/>
            <a:ext cx="196596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116128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D00"/>
                </a:solidFill>
              </a:rPr>
              <a:t>375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17720" y="16642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Peak Aircraft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12280" y="1115568"/>
            <a:ext cx="196596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12280" y="116128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D00"/>
                </a:solidFill>
              </a:rPr>
              <a:t>535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12280" y="16642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Unique Aircraft / Hour</a:t>
            </a:r>
            <a:endParaRPr lang="en-US" sz="900" dirty="0"/>
          </a:p>
        </p:txBody>
      </p:sp>
      <p:pic>
        <p:nvPicPr>
          <p:cNvPr id="18" name="Image 0" descr="/home/claude/img_uc1_densi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2121408"/>
            <a:ext cx="8686800" cy="3008376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858000" y="49011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6D00"/>
                </a:solidFill>
              </a:rPr>
              <a:t>UC1 · STREAMING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09728"/>
            <a:ext cx="2377440" cy="25603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UC2  COUNTRY &amp; AIRLINE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Spark SQL — Traffic by Country and Airline</a:t>
            </a:r>
            <a:endParaRPr lang="en-US" sz="2000" dirty="0"/>
          </a:p>
        </p:txBody>
      </p:sp>
      <p:pic>
        <p:nvPicPr>
          <p:cNvPr id="6" name="Image 0" descr="/home/claude/img_uc2_traffi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87552"/>
            <a:ext cx="8778240" cy="2788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3840480"/>
            <a:ext cx="20574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56032" y="3886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D00"/>
                </a:solidFill>
              </a:rPr>
              <a:t>🇪🇸  Spain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56032" y="42336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</a:rPr>
              <a:t>26.4% market share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</a:rPr>
              <a:t>141 unique aircraft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95728" y="3840480"/>
            <a:ext cx="20574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468880" y="3886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D00"/>
                </a:solidFill>
              </a:rPr>
              <a:t>🇮🇪  Ireland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68880" y="42336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</a:rPr>
              <a:t>10.7% — Ryanair HQ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</a:rPr>
              <a:t>57 unique aircraft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08576" y="3840480"/>
            <a:ext cx="20574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81728" y="3886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D00"/>
                </a:solidFill>
              </a:rPr>
              <a:t>✈️  Ryanair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81728" y="42336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</a:rPr>
              <a:t>83 aircraft · top operator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</a:rPr>
              <a:t>4,143 total observations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821424" y="3840480"/>
            <a:ext cx="20574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94576" y="3886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D00"/>
                </a:solidFill>
              </a:rPr>
              <a:t>🇲🇦  Morocco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94576" y="42336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</a:rPr>
              <a:t>821 km/h fastest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</a:rPr>
              <a:t>10,705 m highest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CAF9"/>
                </a:solidFill>
              </a:rPr>
              <a:t>AIRSPACE INTELLIGENCE  |  Group 4  |  IE University  |  MDA for Big Data II  —  2026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858000" y="49011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6D00"/>
                </a:solidFill>
              </a:rPr>
              <a:t>UC2 · SPARK SQL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UC2  CRUISING SPEEDS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212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Average Cruising Speed by Country — High to Low</a:t>
            </a:r>
            <a:endParaRPr lang="en-US" sz="1800" dirty="0"/>
          </a:p>
        </p:txBody>
      </p:sp>
      <p:pic>
        <p:nvPicPr>
          <p:cNvPr id="6" name="Image 0" descr="/home/claude/img_uc2_spe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1078992"/>
            <a:ext cx="877824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4617720"/>
            <a:ext cx="877824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0040" y="4636008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CAF9"/>
                </a:solidFill>
              </a:rPr>
              <a:t>Morocco (821 km/h) and Turkey (783 km/h) lead — long-haul cruising aircraft.  Spain (569 km/h) and Algeria (602 km/h) trail — short-haul, low-altitude domestic operations.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CAF9"/>
                </a:solidFill>
              </a:rPr>
              <a:t>AIRSPACE INTELLIGENCE  |  Group 4  |  IE University  |  MDA for Big Data II  —  2026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858000" y="49011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6D00"/>
                </a:solidFill>
              </a:rPr>
              <a:t>UC2 · SPEED ANALYSIS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09728"/>
            <a:ext cx="2377440" cy="25603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UC3  CONGESTION DETECTION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Spark ML KMeans — Geographic Grid Congestion Analysis</a:t>
            </a:r>
            <a:endParaRPr lang="en-US" sz="2000" dirty="0"/>
          </a:p>
        </p:txBody>
      </p:sp>
      <p:pic>
        <p:nvPicPr>
          <p:cNvPr id="6" name="Image 0" descr="/home/claude/img_uc3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87552"/>
            <a:ext cx="8778240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3977640"/>
            <a:ext cx="205740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2880" y="4005072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D00"/>
                </a:solidFill>
              </a:rPr>
              <a:t>62.7%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82880" y="4443984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Overall Congestion Rate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95728" y="3977640"/>
            <a:ext cx="205740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395728" y="4005072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D00"/>
                </a:solidFill>
              </a:rPr>
              <a:t>37.2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395728" y="4443984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Peak Avg Aircraft (Madrid FIR)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08576" y="3977640"/>
            <a:ext cx="205740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08576" y="4005072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D00"/>
                </a:solidFill>
              </a:rPr>
              <a:t>0.4687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608576" y="4443984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KMeans Silhouette Score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821424" y="3977640"/>
            <a:ext cx="205740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21424" y="4005072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D00"/>
                </a:solidFill>
              </a:rPr>
              <a:t>30 cells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821424" y="4443984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Congested Every Snapshot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CAF9"/>
                </a:solidFill>
              </a:rPr>
              <a:t>AIRSPACE INTELLIGENCE  |  Group 4  |  IE University  |  MDA for Big Data II  —  2026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858000" y="49011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6D00"/>
                </a:solidFill>
              </a:rPr>
              <a:t>UC3 · CONGESTION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UC3  KMEANS CLUSTERS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212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Three Density Zones Identified by Machine Learning</a:t>
            </a:r>
            <a:endParaRPr lang="en-US" sz="1800" dirty="0"/>
          </a:p>
        </p:txBody>
      </p:sp>
      <p:pic>
        <p:nvPicPr>
          <p:cNvPr id="6" name="Image 0" descr="/home/claude/img_uc3_kmea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1024128"/>
            <a:ext cx="566928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1024128"/>
            <a:ext cx="292608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89320" y="1024128"/>
            <a:ext cx="109728" cy="109728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99632" y="10698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D00"/>
                </a:solidFill>
              </a:rPr>
              <a:t>HIGH DENSITY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99632" y="143560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</a:rPr>
              <a:t>4 cells · avg 28.5 a/c · peak 44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</a:rPr>
              <a:t>Madrid FIR + Atlantic entry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89320" y="2258568"/>
            <a:ext cx="292608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989320" y="2258568"/>
            <a:ext cx="109728" cy="10972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99632" y="23042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8E5"/>
                </a:solidFill>
              </a:rPr>
              <a:t>MEDIUM DENSITY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99632" y="267004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</a:rPr>
              <a:t>15 cells · avg 11.0 a/c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</a:rPr>
              <a:t>Major transit corridors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89320" y="3493008"/>
            <a:ext cx="292608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89320" y="3493008"/>
            <a:ext cx="109728" cy="109728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99632" y="35387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</a:rPr>
              <a:t>LOW DENSITY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99632" y="390448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</a:rPr>
              <a:t>26 cells · avg 3.1 a/c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</a:rPr>
              <a:t>Peripheral / coastal cells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CAF9"/>
                </a:solidFill>
              </a:rPr>
              <a:t>AIRSPACE INTELLIGENCE  |  Group 4  |  IE University  |  MDA for Big Data II  —  2026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858000" y="49011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6D00"/>
                </a:solidFill>
              </a:rPr>
              <a:t>UC3 · KMEANS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09728"/>
            <a:ext cx="2377440" cy="25603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UC3  INTERACTIVE 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Folium Dark Map — Congestion Grid over Iberian Peninsula</a:t>
            </a:r>
            <a:endParaRPr lang="en-US" sz="2000" dirty="0"/>
          </a:p>
        </p:txBody>
      </p:sp>
      <p:pic>
        <p:nvPicPr>
          <p:cNvPr id="6" name="Image 0" descr="/home/claude/img_foliu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87552"/>
            <a:ext cx="8229600" cy="3794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CAF9"/>
                </a:solidFill>
              </a:rPr>
              <a:t>AIRSPACE INTELLIGENCE  |  Group 4  |  IE University  |  MDA for Big Data II  —  2026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858000" y="49011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6D00"/>
                </a:solidFill>
              </a:rPr>
              <a:t>UC3 · INTERACTIVE MAP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06  KEY INSIGHTS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212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the Data Tells 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14800" cy="155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114800" cy="3840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207008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DENSITY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645920"/>
            <a:ext cx="38953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</a:rPr>
              <a:t>The Iberian Peninsula handles 535+ unique aircraft per hour. Average density of 352.8 aircraft per snapshot confirms peak early-evening congestion.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114800" cy="155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41148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18888" y="1207008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DOMINANCE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18888" y="1645920"/>
            <a:ext cx="38953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</a:rPr>
              <a:t>Spain leads with 26.4% market share. Ireland (10.7%) ranks 2nd driven entirely by Ryanair — the single largest operator with 83 unique aircraft.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62072"/>
            <a:ext cx="4114800" cy="155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862072"/>
            <a:ext cx="411480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2898648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SPEED TIERS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3337560"/>
            <a:ext cx="38953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</a:rPr>
              <a:t>A clear two-tier structure: long-haul overflights (Morocco 821 km/h, Turkey 783 km/h) vs. domestic short-haul (Spain 569 km/h, Algeria 602 km/h).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862072"/>
            <a:ext cx="4114800" cy="155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2862072"/>
            <a:ext cx="4114800" cy="38404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18888" y="2898648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CONGESTION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18888" y="3337560"/>
            <a:ext cx="38953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</a:rPr>
              <a:t>62.7% of grid cells exceed the congestion threshold in every snapshot. This is structural, not peak-hour noise. LAT40_LON-4 (Madrid FIR) peaks at 44 aircraft.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CAF9"/>
                </a:solidFill>
              </a:rPr>
              <a:t>AIRSPACE INTELLIGENCE  |  Group 4  |  IE University  |  MDA for Big Data II  —  2026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858000" y="49011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6D00"/>
                </a:solidFill>
              </a:rPr>
              <a:t>INSIGHTS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09728"/>
            <a:ext cx="2377440" cy="25603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CONCLUSIONS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Conclusions &amp; Future Work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D00"/>
                </a:solidFill>
              </a:rPr>
              <a:t>  CONCLUSIONS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0CAF9"/>
                </a:solidFill>
              </a:rPr>
              <a:t>Full pipeline validated end-to-end on OSBDET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0CAF9"/>
                </a:solidFill>
              </a:rPr>
              <a:t>Three Spark capabilities: Streaming · SQL · ML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0CAF9"/>
                </a:solidFill>
              </a:rPr>
              <a:t>Iberian airspace is structurally congested at 62.7%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0CAF9"/>
                </a:solidFill>
              </a:rPr>
              <a:t>Ryanair represents ~15% of all unique aircraft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0CAF9"/>
                </a:solidFill>
              </a:rPr>
              <a:t>Two-tier altitude structure captured by KMeans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0CAF9"/>
                </a:solidFill>
              </a:rPr>
              <a:t>NiFi + MinIO successfully ingest real-time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D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0789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D00"/>
                </a:solidFill>
              </a:rPr>
              <a:t>  FUTURE 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0CAF9"/>
                </a:solidFill>
              </a:rPr>
              <a:t>24-hour ingestion to map full daily traffic cycles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0CAF9"/>
                </a:solidFill>
              </a:rPr>
              <a:t>Silver layer — airport proximity enrichment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0CAF9"/>
                </a:solidFill>
              </a:rPr>
              <a:t>Gold layer — Cassandra or PostgreSQL serving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0CAF9"/>
                </a:solidFill>
              </a:rPr>
              <a:t>GraphFrames — airport route graph analysis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0CAF9"/>
                </a:solidFill>
              </a:rPr>
              <a:t>Superset dashboard — live operational monitoring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0CAF9"/>
                </a:solidFill>
              </a:rPr>
              <a:t>Anomaly detection on velocity / altitude outliers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CAF9"/>
                </a:solidFill>
              </a:rPr>
              <a:t>AIRSPACE INTELLIGENCE  |  Group 4  |  IE University  |  MDA for Big Data II  —  2026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858000" y="49011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6D00"/>
                </a:solidFill>
              </a:rPr>
              <a:t>CONCLUSIONS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TEAM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212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Roles &amp; Responsibilities — Group 4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7160" y="1188720"/>
            <a:ext cx="283464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" y="1188720"/>
            <a:ext cx="283464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12252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Juan José Rincon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1408176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Pipeline Lead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164592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0CAF9"/>
                </a:solidFill>
              </a:rPr>
              <a:t>Apache NiFi pipeline design &amp; configuration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0CAF9"/>
                </a:solidFill>
              </a:rPr>
              <a:t>MinIO Bronze bucket setup &amp; validation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0CAF9"/>
                </a:solidFill>
              </a:rPr>
              <a:t>Ingestion layer documentation &amp; replication guide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08960" y="1188720"/>
            <a:ext cx="283464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08960" y="1188720"/>
            <a:ext cx="2834640" cy="3840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12252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Romain Gelin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408176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Streaming Engineer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0" y="164592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0CAF9"/>
                </a:solidFill>
              </a:rPr>
              <a:t>UC1 Spark Structured Streaming implementation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0CAF9"/>
                </a:solidFill>
              </a:rPr>
              <a:t>Airspace density monitoring &amp; time-series analysis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0CAF9"/>
                </a:solidFill>
              </a:rPr>
              <a:t>Streaming window tuning &amp; approx_count_distinct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80760" y="1188720"/>
            <a:ext cx="283464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83464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72200" y="12252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Diego Gaitan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1408176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SQL &amp; Analytics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72200" y="164592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0CAF9"/>
                </a:solidFill>
              </a:rPr>
              <a:t>UC2 Spark SQL country &amp; airline analysis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0CAF9"/>
                </a:solidFill>
              </a:rPr>
              <a:t>Market share, speed &amp; altitude computations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0CAF9"/>
                </a:solidFill>
              </a:rPr>
              <a:t>Seaborn/Matplotlib dark-theme visualisations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77240" y="3063240"/>
            <a:ext cx="416052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7240" y="3063240"/>
            <a:ext cx="416052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8680" y="309981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Luka Tcheishvili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328269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ML Engineer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68680" y="3520440"/>
            <a:ext cx="39776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0CAF9"/>
                </a:solidFill>
              </a:rPr>
              <a:t>UC3 KMeans congestion detection model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0CAF9"/>
                </a:solidFill>
              </a:rPr>
              <a:t>Silhouette score evaluation &amp; cluster labeling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0CAF9"/>
                </a:solidFill>
              </a:rPr>
              <a:t>KMeans bubble scatter plot &amp; Folium interactive map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3063240"/>
            <a:ext cx="416052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74920" y="3063240"/>
            <a:ext cx="416052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66360" y="309981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Cécile Tambey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66360" y="328269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Integration &amp; Docs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66360" y="3520440"/>
            <a:ext cx="39776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0CAF9"/>
                </a:solidFill>
              </a:rPr>
              <a:t>Notebook integration, QA &amp; debugging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0CAF9"/>
                </a:solidFill>
              </a:rPr>
              <a:t>Slide deck, README &amp; replication guide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0CAF9"/>
                </a:solidFill>
              </a:rPr>
              <a:t>Roles/responsibilities PDF &amp; submission coordination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CAF9"/>
                </a:solidFill>
              </a:rPr>
              <a:t>AIRSPACE INTELLIGENCE  |  Group 4  |  IE University  |  MDA for Big Data II  —  2026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858000" y="49011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6D00"/>
                </a:solidFill>
              </a:rPr>
              <a:t>ROLES &amp; RESPONSIBILITIES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2743200" y="2423160"/>
            <a:ext cx="3657600" cy="457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0CAF9"/>
                </a:solidFill>
              </a:rPr>
              <a:t>Airspace Intelligence — Real-Time Aircraft Monitoring over the Iberian Peninsula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D00"/>
                </a:solidFill>
              </a:rPr>
              <a:t>OpenSky API</a:t>
            </a:r>
            <a:r>
              <a:rPr lang="en-US" sz="1200" dirty="0">
                <a:solidFill>
                  <a:srgbClr val="90CAF9"/>
                </a:solidFill>
              </a:rPr>
              <a:t>  →  Apache NiFi  →  MinIO  →  Apache Spark  →  Structured Streaming · SQL · ML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CAF9"/>
                </a:solidFill>
              </a:rPr>
              <a:t>Group 4  ·  </a:t>
            </a:r>
            <a:r>
              <a:rPr lang="en-US" sz="1200" b="1" dirty="0">
                <a:solidFill>
                  <a:srgbClr val="FFFFFF"/>
                </a:solidFill>
              </a:rPr>
              <a:t>Rincon · Gelin · Gaitan · Tcheishvili · Tambey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IE University  |  MDA for Big Data II  |  March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3045E"/>
      </a:dk1>
      <a:lt1>
        <a:srgbClr val="CAF0F8"/>
      </a:lt1>
      <a:dk2>
        <a:srgbClr val="0077B6"/>
      </a:dk2>
      <a:lt2>
        <a:srgbClr val="90E0EF"/>
      </a:lt2>
      <a:accent1>
        <a:srgbClr val="03045E"/>
      </a:accent1>
      <a:accent2>
        <a:srgbClr val="0077B6"/>
      </a:accent2>
      <a:accent3>
        <a:srgbClr val="00B4D8"/>
      </a:accent3>
      <a:accent4>
        <a:srgbClr val="90E0EF"/>
      </a:accent4>
      <a:accent5>
        <a:srgbClr val="CAF0F8"/>
      </a:accent5>
      <a:accent6>
        <a:srgbClr val="0077B6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3B4BBD8-8120-48A5-84DC-F759925EFDDD}">
  <we:reference id="WA200010001" version="1.0.0.0" store="Omex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1087</Words>
  <Application>Microsoft Office PowerPoint</Application>
  <PresentationFormat>On-screen Show (16:9)</PresentationFormat>
  <Paragraphs>209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Airspace Intelligence</dc:title>
  <dc:subject>PptxGenJS Presentation</dc:subject>
  <dc:creator>Group 4 — IE University</dc:creator>
  <cp:lastModifiedBy>Luka Tcheishvili</cp:lastModifiedBy>
  <cp:revision>5</cp:revision>
  <dcterms:created xsi:type="dcterms:W3CDTF">2026-03-13T00:20:20Z</dcterms:created>
  <dcterms:modified xsi:type="dcterms:W3CDTF">2026-03-13T00:37:11Z</dcterms:modified>
</cp:coreProperties>
</file>