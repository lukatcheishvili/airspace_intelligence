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64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0258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jpeg"/><Relationship Id="rId5" Type="http://schemas.openxmlformats.org/officeDocument/2006/relationships/image" Target="../media/image17.jpe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11680"/>
          </a:xfrm>
          <a:prstGeom prst="rect">
            <a:avLst/>
          </a:prstGeom>
          <a:solidFill>
            <a:srgbClr val="0D1F3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INTELLIGENCE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90E0E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Big Data Analysis of the Iberian Peninsula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27432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Data Architectures for Big Data II — Group Assignment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Members  |  March 2026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49040"/>
            <a:ext cx="1371600" cy="347472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1720" y="3749040"/>
            <a:ext cx="1371600" cy="34747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3749040"/>
            <a:ext cx="1371600" cy="347472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749040"/>
            <a:ext cx="1371600" cy="347472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0" y="3749040"/>
            <a:ext cx="1371600" cy="347472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8869680" y="457200"/>
            <a:ext cx="54864" cy="4114800"/>
          </a:xfrm>
          <a:prstGeom prst="rect">
            <a:avLst/>
          </a:prstGeom>
          <a:solidFill>
            <a:srgbClr val="00B4D8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610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9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Intelligence  |  Big Data Architectures II  |  1/11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MOTIVATION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82296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54864" cy="8229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00584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Iberian Peninsula handles thousands of flights daily — how do we detect congestion and identify when an aircraft deviates from its expected corridor at scale?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194560"/>
            <a:ext cx="2468880" cy="228600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2194560"/>
            <a:ext cx="246888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91440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Analytics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33832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flying over Iberian airspace and where are the busiest zones?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2194560"/>
            <a:ext cx="2468880" cy="228600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29000" y="2194560"/>
            <a:ext cx="2468880" cy="5486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11880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61188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Learning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11880" y="33832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natural air corridors being used by aircraft?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2194560"/>
            <a:ext cx="2468880" cy="228600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26480" y="2194560"/>
            <a:ext cx="2468880" cy="54864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09360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30936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Classification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09360" y="33832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classify and flag corridor deviations in real time?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610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Intelligence  |  Big Data Architectures II  |  2/11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DATA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82880" y="1188720"/>
            <a:ext cx="1280160" cy="237744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82880" y="1188720"/>
            <a:ext cx="128016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4173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8600" y="20574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OpenSky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28600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ADS-B data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~10s polling</a:t>
            </a:r>
            <a:endParaRPr lang="en-US" sz="9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240280"/>
            <a:ext cx="320040" cy="274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057400" y="1188720"/>
            <a:ext cx="1280160" cy="237744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2057400" y="1188720"/>
            <a:ext cx="1280160" cy="54864"/>
          </a:xfrm>
          <a:prstGeom prst="rect">
            <a:avLst/>
          </a:prstGeom>
          <a:solidFill>
            <a:srgbClr val="728E9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6020" y="141732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103120" y="20574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NiFi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2103120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routing</a:t>
            </a:r>
            <a:endParaRPr lang="en-US" sz="9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2240280"/>
            <a:ext cx="320040" cy="27432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3931920" y="1188720"/>
            <a:ext cx="1280160" cy="237744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3931920" y="1188720"/>
            <a:ext cx="1280160" cy="54864"/>
          </a:xfrm>
          <a:prstGeom prst="rect">
            <a:avLst/>
          </a:prstGeom>
          <a:solidFill>
            <a:srgbClr val="C72C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0540" y="1417320"/>
            <a:ext cx="502920" cy="5029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977640" y="20574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3977640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JSON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</a:t>
            </a:r>
            <a:endParaRPr lang="en-US" sz="90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240280"/>
            <a:ext cx="320040" cy="2743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806440" y="1188720"/>
            <a:ext cx="1280160" cy="237744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5"/>
          <p:cNvSpPr/>
          <p:nvPr/>
        </p:nvSpPr>
        <p:spPr>
          <a:xfrm>
            <a:off x="5806440" y="1188720"/>
            <a:ext cx="1280160" cy="54864"/>
          </a:xfrm>
          <a:prstGeom prst="rect">
            <a:avLst/>
          </a:prstGeom>
          <a:solidFill>
            <a:srgbClr val="E25A1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5060" y="1417320"/>
            <a:ext cx="502920" cy="5029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5852160" y="20574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MLlib</a:t>
            </a:r>
            <a:endParaRPr lang="en-US" sz="1200" dirty="0"/>
          </a:p>
        </p:txBody>
      </p:sp>
      <p:sp>
        <p:nvSpPr>
          <p:cNvPr id="26" name="Text 17"/>
          <p:cNvSpPr/>
          <p:nvPr/>
        </p:nvSpPr>
        <p:spPr>
          <a:xfrm>
            <a:off x="5852160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· BKMeans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</a:t>
            </a:r>
            <a:endParaRPr lang="en-US" sz="9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2240280"/>
            <a:ext cx="320040" cy="274320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7680960" y="1188720"/>
            <a:ext cx="1280160" cy="237744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19"/>
          <p:cNvSpPr/>
          <p:nvPr/>
        </p:nvSpPr>
        <p:spPr>
          <a:xfrm>
            <a:off x="7680960" y="1188720"/>
            <a:ext cx="1280160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9580" y="1417320"/>
            <a:ext cx="502920" cy="502920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7726680" y="20574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200" dirty="0"/>
          </a:p>
        </p:txBody>
      </p:sp>
      <p:sp>
        <p:nvSpPr>
          <p:cNvPr id="32" name="Text 21"/>
          <p:cNvSpPr/>
          <p:nvPr/>
        </p:nvSpPr>
        <p:spPr>
          <a:xfrm>
            <a:off x="7726680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900" dirty="0"/>
          </a:p>
        </p:txBody>
      </p:sp>
      <p:sp>
        <p:nvSpPr>
          <p:cNvPr id="33" name="Text 22"/>
          <p:cNvSpPr/>
          <p:nvPr/>
        </p:nvSpPr>
        <p:spPr>
          <a:xfrm>
            <a:off x="731520" y="41148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Lakehouse Medallion Pattern: Ingest raw → Process in Spark → Serve predictions</a:t>
            </a:r>
            <a:endParaRPr lang="en-US" sz="1100" dirty="0"/>
          </a:p>
        </p:txBody>
      </p:sp>
      <p:sp>
        <p:nvSpPr>
          <p:cNvPr id="34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610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24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Intelligence  |  Big Data Architectures II  |  3/11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OpenSky ADS-B &amp; Schema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05840"/>
          <a:ext cx="5029200" cy="311200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icao24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aircraft transponder 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callsign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 number / operator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origin_country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 of registration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latitude / longitude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position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baro_altitude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Barometric altitude (metres)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velocity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speed (m/s)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true_track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Heading (degrees)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vertical_rate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Climb/descent rate (m/s)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on_ground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aircraft on the ground?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6217920" y="1005840"/>
            <a:ext cx="2377440" cy="146304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217920" y="1005840"/>
            <a:ext cx="237744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Iberian Bounding Box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0" y="1554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Lat: </a:t>
            </a:r>
            <a:r>
              <a:rPr lang="en-US" sz="11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36.4° — 43.2° N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Lon: </a:t>
            </a:r>
            <a:r>
              <a:rPr lang="en-US" sz="11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−10° — 2.5° 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2743200"/>
            <a:ext cx="2377440" cy="164592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217920" y="2743200"/>
            <a:ext cx="2377440" cy="5486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00800" y="2926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0" y="32918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explode() to unpack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snapshot into rows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nulls + bounding box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Clean base DataFrame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610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Intelligence  |  Big Data Architectures II  |  4/11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82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 — Traffic Analysis: Country &amp; Airline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" y="768096"/>
            <a:ext cx="6675120" cy="30014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675120" y="777240"/>
            <a:ext cx="2103120" cy="82296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675120" y="777240"/>
            <a:ext cx="54864" cy="8229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903720" y="8229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~25.6%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903720" y="1234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market share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75120" y="1783080"/>
            <a:ext cx="2103120" cy="82296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675120" y="1783080"/>
            <a:ext cx="54864" cy="82296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903720" y="18288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6903720" y="2240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Ryanair unique aircraft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675120" y="2788920"/>
            <a:ext cx="2103120" cy="82296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675120" y="2788920"/>
            <a:ext cx="54864" cy="82296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903720" y="28346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3rd+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903720" y="3246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UK, DE, CH transit traffic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610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Intelligence  |  Big Data Architectures II  |  5/11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828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 — Airspace Density Heatmap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22960"/>
            <a:ext cx="530352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0" y="822960"/>
            <a:ext cx="2743200" cy="100584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035040" y="822960"/>
            <a:ext cx="54864" cy="100584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263640" y="914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→ SW Corridor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26364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European airway to Canaries &amp; Africa across central Spain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035040" y="2011680"/>
            <a:ext cx="2743200" cy="100584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035040" y="2011680"/>
            <a:ext cx="54864" cy="10058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263640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Catalonian Coast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63640" y="2468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High-traffic cluster near Barcelona El Prat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035040" y="3200400"/>
            <a:ext cx="2743200" cy="100584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035040" y="3200400"/>
            <a:ext cx="54864" cy="100584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263640" y="3291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Portuguese Atlantic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26364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lanes to Lisbon and Porto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57200" y="43891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 × 1° grid  |  Log-transformed density  |  Cool → Hot gradient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610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Intelligence  |  Big Data Architectures II  |  6/11</a:t>
            </a:r>
            <a:endParaRPr lang="en-US" sz="800" dirty="0"/>
          </a:p>
        </p:txBody>
      </p:sp>
      <p:sp>
        <p:nvSpPr>
          <p:cNvPr id="20" name="AutoShape 2">
            <a:extLst>
              <a:ext uri="{FF2B5EF4-FFF2-40B4-BE49-F238E27FC236}">
                <a16:creationId xmlns:a16="http://schemas.microsoft.com/office/drawing/2014/main" id="{CF054C25-47B8-6DB6-9622-9DE0606901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6732F00-C193-FB08-3F4B-8D620AB48E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866494"/>
            <a:ext cx="5201483" cy="33854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82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 — Feature Engineering &amp; Trajectory Resampling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920240" cy="201168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92024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94360" y="1508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Detection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each icao24 track into flight segments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(30-min gap threshold)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06040" y="868680"/>
            <a:ext cx="1920240" cy="201168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606040" y="868680"/>
            <a:ext cx="1920240" cy="5486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0" y="1051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743200" y="1508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Classification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0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 / arrival / pass_through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(hop excluded)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868680"/>
            <a:ext cx="1920240" cy="201168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54880" y="868680"/>
            <a:ext cx="1920240" cy="54864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92040" y="1051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892040" y="1508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 to exactly 15 waypoints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features per trajectory)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03720" y="868680"/>
            <a:ext cx="1920240" cy="201168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903720" y="868680"/>
            <a:ext cx="1920240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040880" y="1051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040880" y="1508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Vector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40880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[lat₀, lon₀, lat₁, lon₁, … lat₁₄, lon₁₄]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3108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Type Classification Rules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474720"/>
          <a:ext cx="7680960" cy="13716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≤ 10 km from airport, end far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Arrival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≤ 10 km from airport, start far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Neither endpoint near any airport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Hop (excluded)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endpoints near airports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610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Intelligence  |  Big Data Architectures II  |  7/11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82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 — BKMeans Corridor Clustering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22960"/>
            <a:ext cx="411480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3703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Pass-Through Corridors (K=8)</a:t>
            </a:r>
            <a:endParaRPr lang="en-US" sz="10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822960"/>
            <a:ext cx="4114800" cy="2834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754880" y="3703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 &amp; Departure Corridors (K=5 each)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640080" y="40690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Algorithm: </a:t>
            </a:r>
            <a:r>
              <a:rPr lang="en-US" sz="11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Bisecting K-Means (Spark MLlib)    </a:t>
            </a: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Eval: </a:t>
            </a:r>
            <a:r>
              <a:rPr lang="en-US" sz="11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(Sq. Euclidean)    </a:t>
            </a: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BKMeans: </a:t>
            </a:r>
            <a:r>
              <a:rPr lang="en-US" sz="11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balanced clusters, hierarchical structure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610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Intelligence  |  Big Data Architectures II  |  8/11</a:t>
            </a:r>
            <a:endParaRPr lang="en-US" sz="8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7BA8E46-DE15-C6FF-0CF4-BDA9F859E9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678" y="877824"/>
            <a:ext cx="4074086" cy="27226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BC47270-DAF3-AE1A-7B75-E9732164F1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37" y="877824"/>
            <a:ext cx="4074085" cy="27226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82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III — Random Forest Corridor Classifier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4114800" cy="237744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41148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8961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Overview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Algorithm: </a:t>
            </a:r>
            <a:r>
              <a:rPr lang="en-US" sz="11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Classifier (MLlib)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</a:t>
            </a:r>
            <a:r>
              <a:rPr lang="en-US" sz="11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lat, lon, track_sin, track_cos, vrate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r>
              <a:rPr lang="en-US" sz="11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corridor_id (18 classes)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Split: </a:t>
            </a:r>
            <a:r>
              <a:rPr lang="en-US" sz="11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by flight (no leakage)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</a:t>
            </a:r>
            <a:r>
              <a:rPr lang="en-US" sz="10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StringIndexer → VectorAssembler →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→ RandomForest → IndexToString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777240"/>
            <a:ext cx="3931920" cy="237744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777240"/>
            <a:ext cx="3931920" cy="54864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0" y="89611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 Detection Logic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1371600"/>
            <a:ext cx="3566160" cy="438912"/>
          </a:xfrm>
          <a:prstGeom prst="rect">
            <a:avLst/>
          </a:prstGeom>
          <a:solidFill>
            <a:srgbClr val="132E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0" y="1371600"/>
            <a:ext cx="54864" cy="43891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257800" y="137160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0.70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13716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CORRIDOR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0" y="1920240"/>
            <a:ext cx="3566160" cy="438912"/>
          </a:xfrm>
          <a:prstGeom prst="rect">
            <a:avLst/>
          </a:prstGeom>
          <a:solidFill>
            <a:srgbClr val="132E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29200" y="1920240"/>
            <a:ext cx="54864" cy="438912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257800" y="192024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0.50 – 0.70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0" y="19202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0" y="2468880"/>
            <a:ext cx="3566160" cy="438912"/>
          </a:xfrm>
          <a:prstGeom prst="rect">
            <a:avLst/>
          </a:prstGeom>
          <a:solidFill>
            <a:srgbClr val="132E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029200" y="2468880"/>
            <a:ext cx="54864" cy="438912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257800" y="24688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0.50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246888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383280"/>
            <a:ext cx="5029200" cy="109728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5029200" cy="5486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4008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3840480"/>
            <a:ext cx="1005840" cy="502920"/>
          </a:xfrm>
          <a:prstGeom prst="rect">
            <a:avLst/>
          </a:prstGeom>
          <a:solidFill>
            <a:srgbClr val="132E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0080" y="3840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67.9%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0080" y="409651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0" y="3840480"/>
            <a:ext cx="1005840" cy="502920"/>
          </a:xfrm>
          <a:prstGeom prst="rect">
            <a:avLst/>
          </a:prstGeom>
          <a:solidFill>
            <a:srgbClr val="132E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828800" y="3840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68.9%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828800" y="409651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017520" y="3840480"/>
            <a:ext cx="1005840" cy="502920"/>
          </a:xfrm>
          <a:prstGeom prst="rect">
            <a:avLst/>
          </a:prstGeom>
          <a:solidFill>
            <a:srgbClr val="132E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017520" y="3840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70.9%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3017520" y="409651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206240" y="3840480"/>
            <a:ext cx="1005840" cy="502920"/>
          </a:xfrm>
          <a:prstGeom prst="rect">
            <a:avLst/>
          </a:prstGeom>
          <a:solidFill>
            <a:srgbClr val="132E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206240" y="3840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68.9%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206240" y="409651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760720" y="3383280"/>
            <a:ext cx="3017520" cy="109728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760720" y="3383280"/>
            <a:ext cx="3017520" cy="54864"/>
          </a:xfrm>
          <a:prstGeom prst="rect">
            <a:avLst/>
          </a:prstGeom>
          <a:solidFill>
            <a:srgbClr val="C72C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943600" y="3520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Saved to MinIO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943600" y="3840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AF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s3a://airspace-intelligence-bronze/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EAF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models/corridor_classifier/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610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Intelligence  |  Big Data Architectures II  |  9/11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82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IV — Real-Time Streaming with Kafka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-274320" y="822960"/>
            <a:ext cx="1463040" cy="82296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274320" y="822960"/>
            <a:ext cx="1463040" cy="457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-228600" y="9144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OpenSky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1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124712"/>
            <a:ext cx="320040" cy="2194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783080" y="822960"/>
            <a:ext cx="1463040" cy="82296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783080" y="822960"/>
            <a:ext cx="1463040" cy="45720"/>
          </a:xfrm>
          <a:prstGeom prst="rect">
            <a:avLst/>
          </a:prstGeom>
          <a:solidFill>
            <a:srgbClr val="231F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828800" y="9144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Topic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opensky_raw</a:t>
            </a:r>
            <a:endParaRPr lang="en-US" sz="11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124712"/>
            <a:ext cx="320040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840480" y="822960"/>
            <a:ext cx="1463040" cy="82296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840480" y="822960"/>
            <a:ext cx="1463040" cy="45720"/>
          </a:xfrm>
          <a:prstGeom prst="rect">
            <a:avLst/>
          </a:prstGeom>
          <a:solidFill>
            <a:srgbClr val="E25A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3886200" y="9144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124712"/>
            <a:ext cx="320040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897880" y="822960"/>
            <a:ext cx="1463040" cy="82296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5897880" y="822960"/>
            <a:ext cx="1463040" cy="4572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5943600" y="9144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1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124712"/>
            <a:ext cx="320040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7955280" y="822960"/>
            <a:ext cx="1463040" cy="82296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7955280" y="822960"/>
            <a:ext cx="1463040" cy="4572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6"/>
          <p:cNvSpPr/>
          <p:nvPr/>
        </p:nvSpPr>
        <p:spPr>
          <a:xfrm>
            <a:off x="8001000" y="9144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1965960"/>
            <a:ext cx="1920240" cy="137160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457200" y="1965960"/>
            <a:ext cx="1920240" cy="457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59436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594360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SparkSession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594360" y="2788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with Kafka + MinIO packages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2606040" y="1965960"/>
            <a:ext cx="1920240" cy="137160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2606040" y="1965960"/>
            <a:ext cx="1920240" cy="457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4"/>
          <p:cNvSpPr/>
          <p:nvPr/>
        </p:nvSpPr>
        <p:spPr>
          <a:xfrm>
            <a:off x="274320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25"/>
          <p:cNvSpPr/>
          <p:nvPr/>
        </p:nvSpPr>
        <p:spPr>
          <a:xfrm>
            <a:off x="2743200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Model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2743200" y="2788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PipelineModel.load() from MinIO bucket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4754880" y="1965960"/>
            <a:ext cx="1920240" cy="137160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8"/>
          <p:cNvSpPr/>
          <p:nvPr/>
        </p:nvSpPr>
        <p:spPr>
          <a:xfrm>
            <a:off x="4754880" y="1965960"/>
            <a:ext cx="1920240" cy="457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29"/>
          <p:cNvSpPr/>
          <p:nvPr/>
        </p:nvSpPr>
        <p:spPr>
          <a:xfrm>
            <a:off x="489204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30"/>
          <p:cNvSpPr/>
          <p:nvPr/>
        </p:nvSpPr>
        <p:spPr>
          <a:xfrm>
            <a:off x="4892040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readStream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4892040" y="2788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topic opensky_raw, startingOffsets = latest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6903720" y="1965960"/>
            <a:ext cx="1920240" cy="137160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3"/>
          <p:cNvSpPr/>
          <p:nvPr/>
        </p:nvSpPr>
        <p:spPr>
          <a:xfrm>
            <a:off x="6903720" y="1965960"/>
            <a:ext cx="1920240" cy="457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4"/>
          <p:cNvSpPr/>
          <p:nvPr/>
        </p:nvSpPr>
        <p:spPr>
          <a:xfrm>
            <a:off x="704088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41" name="Text 35"/>
          <p:cNvSpPr/>
          <p:nvPr/>
        </p:nvSpPr>
        <p:spPr>
          <a:xfrm>
            <a:off x="7040880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&amp; Predict</a:t>
            </a:r>
            <a:endParaRPr lang="en-US" sz="1200" dirty="0"/>
          </a:p>
        </p:txBody>
      </p:sp>
      <p:sp>
        <p:nvSpPr>
          <p:cNvPr id="42" name="Text 36"/>
          <p:cNvSpPr/>
          <p:nvPr/>
        </p:nvSpPr>
        <p:spPr>
          <a:xfrm>
            <a:off x="7040880" y="2788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JSON → explode → features → model inference → status</a:t>
            </a:r>
            <a:endParaRPr lang="en-US" sz="950" dirty="0"/>
          </a:p>
        </p:txBody>
      </p:sp>
      <p:sp>
        <p:nvSpPr>
          <p:cNvPr id="43" name="Shape 37"/>
          <p:cNvSpPr/>
          <p:nvPr/>
        </p:nvSpPr>
        <p:spPr>
          <a:xfrm>
            <a:off x="457200" y="3566160"/>
            <a:ext cx="8229600" cy="914400"/>
          </a:xfrm>
          <a:prstGeom prst="rect">
            <a:avLst/>
          </a:prstGeom>
          <a:solidFill>
            <a:srgbClr val="0D1F3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Text 38"/>
          <p:cNvSpPr/>
          <p:nvPr/>
        </p:nvSpPr>
        <p:spPr>
          <a:xfrm>
            <a:off x="64008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Schema</a:t>
            </a:r>
            <a:endParaRPr lang="en-US" sz="1200" dirty="0"/>
          </a:p>
        </p:txBody>
      </p:sp>
      <p:sp>
        <p:nvSpPr>
          <p:cNvPr id="45" name="Text 39"/>
          <p:cNvSpPr/>
          <p:nvPr/>
        </p:nvSpPr>
        <p:spPr>
          <a:xfrm>
            <a:off x="640080" y="3931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snapshot_time   |   icao24   |   callsign   |   latitude   |   longitude   |   predicted_corridor   |   max_probability   |   status</a:t>
            </a:r>
            <a:endParaRPr lang="en-US" sz="1000" dirty="0"/>
          </a:p>
        </p:txBody>
      </p:sp>
      <p:sp>
        <p:nvSpPr>
          <p:cNvPr id="46" name="Text 40"/>
          <p:cNvSpPr/>
          <p:nvPr/>
        </p:nvSpPr>
        <p:spPr>
          <a:xfrm>
            <a:off x="640080" y="425196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trigger: every 10 seconds</a:t>
            </a:r>
            <a:endParaRPr lang="en-US" sz="900" dirty="0"/>
          </a:p>
        </p:txBody>
      </p:sp>
      <p:sp>
        <p:nvSpPr>
          <p:cNvPr id="47" name="Shape 4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610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2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Intelligence  |  Big Data Architectures II  |  10/11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82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&amp; CONCLUSIONS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77240"/>
          <a:ext cx="8229600" cy="204825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Collection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NiFi + OpenSky API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JSON in MinIO Bronze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Processing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PySpark SQL + DataFrames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Cleaned aircraft_df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Descriptive Analysis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Spark SQL + Folium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Traffic charts + Density heatmap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Trajectory Engineering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PySpark Window + UDFs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30-dim flight vectors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Corridor Discovery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BisectingKMeans (MLlib)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labelled corridors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Corridor Classification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 (MLlib)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Trained classifier + deviation flag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Inference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Kafka + Spark Streaming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4DC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status per aircraft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2926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31520" y="3246120"/>
            <a:ext cx="7680960" cy="411480"/>
          </a:xfrm>
          <a:prstGeom prst="rect">
            <a:avLst/>
          </a:prstGeom>
          <a:solidFill>
            <a:srgbClr val="0D1F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731520" y="3246120"/>
            <a:ext cx="54864" cy="41148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005840" y="32461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dominates Iberian airspace (~25.6%), but transit traffic from non-Iberian carriers is substantial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3685032"/>
            <a:ext cx="7680960" cy="411480"/>
          </a:xfrm>
          <a:prstGeom prst="rect">
            <a:avLst/>
          </a:prstGeom>
          <a:solidFill>
            <a:srgbClr val="0D1F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31520" y="3685032"/>
            <a:ext cx="54864" cy="41148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05840" y="3685032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BKMeans successfully discovered 18 geographically coherent corridors aligned with known airways</a:t>
            </a:r>
            <a:endParaRPr lang="en-US" sz="1100" dirty="0"/>
          </a:p>
        </p:txBody>
      </p:sp>
      <p:sp>
        <p:nvSpPr>
          <p:cNvPr id="4" name="Shape 9"/>
          <p:cNvSpPr/>
          <p:nvPr/>
        </p:nvSpPr>
        <p:spPr>
          <a:xfrm>
            <a:off x="731520" y="4123944"/>
            <a:ext cx="7680960" cy="411480"/>
          </a:xfrm>
          <a:prstGeom prst="rect">
            <a:avLst/>
          </a:prstGeom>
          <a:solidFill>
            <a:srgbClr val="0D1F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731520" y="4123944"/>
            <a:ext cx="54864" cy="41148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005840" y="4123944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enables real-time corridor classification and deviation detection at streaming scale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743200" y="46177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Questions?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610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Intelligence  |  Big Data Architectures II  |  11/11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940</Words>
  <Application>Microsoft Macintosh PowerPoint</Application>
  <PresentationFormat>On-screen Show (16:9)</PresentationFormat>
  <Paragraphs>229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Airspace Intelligence — Big Data Analysis of the Iberian Peninsula</dc:title>
  <dc:subject>PptxGenJS Presentation</dc:subject>
  <dc:creator>Airspace Intelligence Team</dc:creator>
  <cp:lastModifiedBy>Juan Jose Rincon Briceño</cp:lastModifiedBy>
  <cp:revision>6</cp:revision>
  <dcterms:created xsi:type="dcterms:W3CDTF">2026-03-18T10:14:59Z</dcterms:created>
  <dcterms:modified xsi:type="dcterms:W3CDTF">2026-03-18T10:40:24Z</dcterms:modified>
</cp:coreProperties>
</file>